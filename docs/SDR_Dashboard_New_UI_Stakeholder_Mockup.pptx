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3366"/>
                </a:solidFill>
              </a:defRPr>
            </a:pPr>
            <a:r>
              <a:t>SDR Dashboard — New UI (Approach B)</a:t>
            </a:r>
          </a:p>
          <a:p>
            <a:pPr algn="ctr">
              <a:defRPr sz="1800">
                <a:solidFill>
                  <a:srgbClr val="444444"/>
                </a:solidFill>
              </a:defRPr>
            </a:pPr>
            <a:r>
              <a:t>Stakeholder preview · Wizard flow · Low / Medium / High presets · Web app + Python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5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</a:defRPr>
            </a:pPr>
            <a:r>
              <a:t>Who this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Primary users: program managers, policymakers, funders — not model engineers.</a:t>
            </a:r>
          </a:p>
          <a:p>
            <a:pPr>
              <a:spcAft>
                <a:spcPts val="1000"/>
              </a:spcAft>
              <a:defRPr sz="1600"/>
            </a:pPr>
            <a:r>
              <a:t>They compare scenarios (baseline vs intervention), not tune every percentage.</a:t>
            </a:r>
          </a:p>
          <a:p>
            <a:pPr>
              <a:spcAft>
                <a:spcPts val="1000"/>
              </a:spcAft>
              <a:defRPr sz="1600"/>
            </a:pPr>
            <a:r>
              <a:t>Success: complete path → run → read results in a few minutes, unaided.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5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</a:defRPr>
            </a:pPr>
            <a:r>
              <a:t>Why we are changing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Today: many levers, technical labels, dense Streamlit expanders.</a:t>
            </a:r>
          </a:p>
          <a:p>
            <a:pPr>
              <a:spcAft>
                <a:spcPts val="1000"/>
              </a:spcAft>
              <a:defRPr sz="1600"/>
            </a:pPr>
            <a:r>
              <a:t>Tomorrow: guided steps, plain language, intensity as Low / Medium / High.</a:t>
            </a:r>
          </a:p>
          <a:p>
            <a:pPr>
              <a:spcAft>
                <a:spcPts val="1000"/>
              </a:spcAft>
              <a:defRPr sz="1600"/>
            </a:pPr>
            <a:r>
              <a:t>Advanced options exist but are hidden until explicitly opened.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5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</a:defRPr>
            </a:pPr>
            <a:r>
              <a:t>Screen 1 — 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Hero: product name + one-sentence purpose (maternal/neonatal outcomes simulation).</a:t>
            </a:r>
          </a:p>
          <a:p>
            <a:pPr>
              <a:spcAft>
                <a:spcPts val="1000"/>
              </a:spcAft>
              <a:defRPr sz="1600"/>
            </a:pPr>
            <a:r>
              <a:t>Short reassurance: results are for planning / comparison (wording TBD with comms).</a:t>
            </a:r>
          </a:p>
          <a:p>
            <a:pPr>
              <a:spcAft>
                <a:spcPts val="1000"/>
              </a:spcAft>
              <a:defRPr sz="1600"/>
            </a:pPr>
            <a:r>
              <a:t>Primary button: “Start scenario” (no jargon). Secondary: “How it works” (optional doc).</a:t>
            </a:r>
          </a:p>
          <a:p>
            <a:pPr>
              <a:spcAft>
                <a:spcPts val="1000"/>
              </a:spcAft>
              <a:defRPr sz="1600"/>
            </a:pPr>
            <a:r>
              <a:t>Visual: clean illustration or map silhouette — not data charts on this screen.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5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</a:defRPr>
            </a:pPr>
            <a:r>
              <a:t>Screen 2 — Choose your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Large choice cards (not small buttons), e.g.:</a:t>
            </a:r>
          </a:p>
          <a:p>
            <a:pPr>
              <a:spcAft>
                <a:spcPts val="1000"/>
              </a:spcAft>
              <a:defRPr sz="1600"/>
            </a:pPr>
            <a:r>
              <a:t>  · Health system strengthening (demand + supply)</a:t>
            </a:r>
          </a:p>
          <a:p>
            <a:pPr>
              <a:spcAft>
                <a:spcPts val="1000"/>
              </a:spcAft>
              <a:defRPr sz="1600"/>
            </a:pPr>
            <a:r>
              <a:t>  · Clinical &amp; diagnosis packages only</a:t>
            </a:r>
          </a:p>
          <a:p>
            <a:pPr>
              <a:spcAft>
                <a:spcPts val="1000"/>
              </a:spcAft>
              <a:defRPr sz="1600"/>
            </a:pPr>
            <a:r>
              <a:t>  · Combined program</a:t>
            </a:r>
          </a:p>
          <a:p>
            <a:pPr>
              <a:spcAft>
                <a:spcPts val="1000"/>
              </a:spcAft>
              <a:defRPr sz="1600"/>
            </a:pPr>
            <a:r>
              <a:t>  · Community / digital programs (MOMISH-style)</a:t>
            </a:r>
          </a:p>
          <a:p>
            <a:pPr>
              <a:spcAft>
                <a:spcPts val="1000"/>
              </a:spcAft>
              <a:defRPr sz="1600"/>
            </a:pPr>
            <a:r>
              <a:t>Each card: icon, title, 2-line description. One selection required to continue.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5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</a:defRPr>
            </a:pPr>
            <a:r>
              <a:t>Screen 3 — Intensity (Low / Medium / High)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For each relevant domain, a segmented control: Low | Medium | High.</a:t>
            </a:r>
          </a:p>
          <a:p>
            <a:pPr>
              <a:spcAft>
                <a:spcPts val="1000"/>
              </a:spcAft>
              <a:defRPr sz="1600"/>
            </a:pPr>
            <a:r>
              <a:t>Example domains: Demand (ANC, facility delivery intent), Supply (capacity, staff, equipment),</a:t>
            </a:r>
          </a:p>
          <a:p>
            <a:pPr>
              <a:spcAft>
                <a:spcPts val="1000"/>
              </a:spcAft>
              <a:defRPr sz="1600"/>
            </a:pPr>
            <a:r>
              <a:t>  Quality / protocols, Transport / referral (if in scope for that path).</a:t>
            </a:r>
          </a:p>
          <a:p>
            <a:pPr>
              <a:spcAft>
                <a:spcPts val="1000"/>
              </a:spcAft>
              <a:defRPr sz="1600"/>
            </a:pPr>
            <a:r>
              <a:t>No raw % on this screen — numbers are mapped in the backend from agreed preset tables.</a:t>
            </a:r>
          </a:p>
          <a:p>
            <a:pPr>
              <a:spcAft>
                <a:spcPts val="1000"/>
              </a:spcAft>
              <a:defRPr sz="1600"/>
            </a:pPr>
            <a:r>
              <a:t>Optional: “Use recommended default for my focus” one-click.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5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</a:defRPr>
            </a:pPr>
            <a:r>
              <a:t>Screen 4 — Path-specific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Only show blocks that apply to the chosen path (progressive disclosure).</a:t>
            </a:r>
          </a:p>
          <a:p>
            <a:pPr>
              <a:spcAft>
                <a:spcPts val="1000"/>
              </a:spcAft>
              <a:defRPr sz="1600"/>
            </a:pPr>
            <a:r>
              <a:t>e.g. MOMISH: toggles for PROMPTS / Mentors / PULSE — still with simple adoption tiers.</a:t>
            </a:r>
          </a:p>
          <a:p>
            <a:pPr>
              <a:spcAft>
                <a:spcPts val="1000"/>
              </a:spcAft>
              <a:defRPr sz="1600"/>
            </a:pPr>
            <a:r>
              <a:t>e.g. Clinical: bundles as checkboxes with plain-language descriptions.</a:t>
            </a:r>
          </a:p>
          <a:p>
            <a:pPr>
              <a:spcAft>
                <a:spcPts val="1000"/>
              </a:spcAft>
              <a:defRPr sz="1600"/>
            </a:pPr>
            <a:r>
              <a:t>Back button always visible; progress indicator: Step 2 of 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5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</a:defRPr>
            </a:pPr>
            <a:r>
              <a:t>Screen 5 — Run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Time horizon as plain choices: e.g. Short (~1 yr) · Medium (~3 yr) · Long (~5 yr).</a:t>
            </a:r>
          </a:p>
          <a:p>
            <a:pPr>
              <a:spcAft>
                <a:spcPts val="1000"/>
              </a:spcAft>
              <a:defRPr sz="1600"/>
            </a:pPr>
            <a:r>
              <a:t>Uncertainty: “Single run” vs “Show range (multiple simulations)” — not “300 runs”.</a:t>
            </a:r>
          </a:p>
          <a:p>
            <a:pPr>
              <a:spcAft>
                <a:spcPts val="1000"/>
              </a:spcAft>
              <a:defRPr sz="1600"/>
            </a:pPr>
            <a:r>
              <a:t>Compare mode (optional): “Save as Scenario A” → adjust → “Run as Scenario B”.</a:t>
            </a:r>
          </a:p>
          <a:p>
            <a:pPr>
              <a:spcAft>
                <a:spcPts val="1000"/>
              </a:spcAft>
              <a:defRPr sz="1600"/>
            </a:pPr>
            <a:r>
              <a:t>Primary CTA: “Run model” with loading state and human-readable status 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5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</a:defRPr>
            </a:pPr>
            <a:r>
              <a:t>Screen 6 — Results (headline)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Top: KPI strip — 3–5 big numbers (e.g. deaths, DALYs, L4/5 births share — exact set TBD).</a:t>
            </a:r>
          </a:p>
          <a:p>
            <a:pPr>
              <a:spcAft>
                <a:spcPts val="1000"/>
              </a:spcAft>
              <a:defRPr sz="1600"/>
            </a:pPr>
            <a:r>
              <a:t>Each KPI: short label, value, delta vs baseline with ↑↓ and color + text “lower is better”.</a:t>
            </a:r>
          </a:p>
          <a:p>
            <a:pPr>
              <a:spcAft>
                <a:spcPts val="1000"/>
              </a:spcAft>
              <a:defRPr sz="1600"/>
            </a:pPr>
            <a:r>
              <a:t>One primary chart: Baseline vs Scenario over time (single message).</a:t>
            </a:r>
          </a:p>
          <a:p>
            <a:pPr>
              <a:spcAft>
                <a:spcPts val="1000"/>
              </a:spcAft>
              <a:defRPr sz="1600"/>
            </a:pPr>
            <a:r>
              <a:t>Footnote: denominators (per 100 live births, per 1000, etc.).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5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</a:defRPr>
            </a:pPr>
            <a:r>
              <a:t>Screen 7 — Explore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Accordion or left nav: Maternal · Neonatal · Facility &amp; capacity · Cost (if applicable).</a:t>
            </a:r>
          </a:p>
          <a:p>
            <a:pPr>
              <a:spcAft>
                <a:spcPts val="1000"/>
              </a:spcAft>
              <a:defRPr sz="1600"/>
            </a:pPr>
            <a:r>
              <a:t>Inside each: a small set of charts — avoid duplicate line + bar for every metric in v1.</a:t>
            </a:r>
          </a:p>
          <a:p>
            <a:pPr>
              <a:spcAft>
                <a:spcPts val="1000"/>
              </a:spcAft>
              <a:defRPr sz="1600"/>
            </a:pPr>
            <a:r>
              <a:t>Multi-run: show median + shaded band, not many overlapping lines.</a:t>
            </a:r>
          </a:p>
          <a:p>
            <a:pPr>
              <a:spcAft>
                <a:spcPts val="1000"/>
              </a:spcAft>
              <a:defRPr sz="1600"/>
            </a:pPr>
            <a:r>
              <a:t>Export: “Download summary” (PDF/CSV) as stretch goal — note on roadmap.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5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</a:defRPr>
            </a:pPr>
            <a:r>
              <a:t>Screen 8 — Advanced (optional)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Collapsed by default: label “Advanced — for analysts”.</a:t>
            </a:r>
          </a:p>
          <a:p>
            <a:pPr>
              <a:spcAft>
                <a:spcPts val="1000"/>
              </a:spcAft>
              <a:defRPr sz="1600"/>
            </a:pPr>
            <a:r>
              <a:t>Exposes legacy-style sliders or raw % only here; backend can accept overrides.</a:t>
            </a:r>
          </a:p>
          <a:p>
            <a:pPr>
              <a:spcAft>
                <a:spcPts val="1000"/>
              </a:spcAft>
              <a:defRPr sz="1600"/>
            </a:pPr>
            <a:r>
              <a:t>Warning: “Changing these may make results harder to compare across runs.”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5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</a:defRPr>
            </a:pPr>
            <a:r>
              <a:t>Technical approach (for IT / vendors)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Frontend: Next.js or traditional HTML/CSS/JS — same UX story for stakeholders.</a:t>
            </a:r>
          </a:p>
          <a:p>
            <a:pPr>
              <a:spcAft>
                <a:spcPts val="1000"/>
              </a:spcAft>
              <a:defRPr sz="1600"/>
            </a:pPr>
            <a:r>
              <a:t>Backend: thin Python API (e.g. FastAPI) wrapping existing run_model_dash and parameters.</a:t>
            </a:r>
          </a:p>
          <a:p>
            <a:pPr>
              <a:spcAft>
                <a:spcPts val="1000"/>
              </a:spcAft>
              <a:defRPr sz="1600"/>
            </a:pPr>
            <a:r>
              <a:t>Preset layer: low | medium | high → current flags / HSS / S / E — single source of truth in code.</a:t>
            </a:r>
          </a:p>
          <a:p>
            <a:pPr>
              <a:spcAft>
                <a:spcPts val="1000"/>
              </a:spcAft>
              <a:defRPr sz="1600"/>
            </a:pPr>
            <a:r>
              <a:t>Deploy: web + API; model stays in Python (no reimplementation in JS).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5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</a:defRPr>
            </a:pPr>
            <a:r>
              <a:t>Roadmap &amp;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Confirm KPI list and disclaimers for welcome and results screens.</a:t>
            </a:r>
          </a:p>
          <a:p>
            <a:pPr>
              <a:spcAft>
                <a:spcPts val="1000"/>
              </a:spcAft>
              <a:defRPr sz="1600"/>
            </a:pPr>
            <a:r>
              <a:t>Sign off on Low/Medium/High numeric mappings with technical leads.</a:t>
            </a:r>
          </a:p>
          <a:p>
            <a:pPr>
              <a:spcAft>
                <a:spcPts val="1000"/>
              </a:spcAft>
              <a:defRPr sz="1600"/>
            </a:pPr>
            <a:r>
              <a:t>Pick Next.js vs static HTML for v1 (timeline and team skill).</a:t>
            </a:r>
          </a:p>
          <a:p>
            <a:pPr>
              <a:spcAft>
                <a:spcPts val="1000"/>
              </a:spcAft>
              <a:defRPr sz="1600"/>
            </a:pPr>
            <a:r>
              <a:t>Open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